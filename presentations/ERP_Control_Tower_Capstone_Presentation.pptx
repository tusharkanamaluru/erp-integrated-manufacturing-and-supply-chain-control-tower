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676D5-DC24-4E66-8C37-084F4623017B}" v="25" dt="2026-09-30T17:44:23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amaluri, Tushar [C]" userId="4d0fbb22-c6ed-483d-9750-5053b27ea478" providerId="ADAL" clId="{3F2C7D5C-9765-4102-8C9B-5EECA8B8E360}"/>
    <pc:docChg chg="undo custSel addSld delSld modSld sldOrd">
      <pc:chgData name="Kanamaluri, Tushar [C]" userId="4d0fbb22-c6ed-483d-9750-5053b27ea478" providerId="ADAL" clId="{3F2C7D5C-9765-4102-8C9B-5EECA8B8E360}" dt="2026-09-30T17:52:09.493" v="1060"/>
      <pc:docMkLst>
        <pc:docMk/>
      </pc:docMkLst>
      <pc:sldChg chg="modSp mod">
        <pc:chgData name="Kanamaluri, Tushar [C]" userId="4d0fbb22-c6ed-483d-9750-5053b27ea478" providerId="ADAL" clId="{3F2C7D5C-9765-4102-8C9B-5EECA8B8E360}" dt="2026-09-30T17:33:40.378" v="839" actId="1076"/>
        <pc:sldMkLst>
          <pc:docMk/>
          <pc:sldMk cId="85619272" sldId="256"/>
        </pc:sldMkLst>
        <pc:spChg chg="mod">
          <ac:chgData name="Kanamaluri, Tushar [C]" userId="4d0fbb22-c6ed-483d-9750-5053b27ea478" providerId="ADAL" clId="{3F2C7D5C-9765-4102-8C9B-5EECA8B8E360}" dt="2026-09-30T17:33:40.378" v="839" actId="1076"/>
          <ac:spMkLst>
            <pc:docMk/>
            <pc:sldMk cId="85619272" sldId="256"/>
            <ac:spMk id="4" creationId="{902A3C75-222F-76B5-6138-2470B29E12E7}"/>
          </ac:spMkLst>
        </pc:spChg>
        <pc:spChg chg="mod">
          <ac:chgData name="Kanamaluri, Tushar [C]" userId="4d0fbb22-c6ed-483d-9750-5053b27ea478" providerId="ADAL" clId="{3F2C7D5C-9765-4102-8C9B-5EECA8B8E360}" dt="2026-09-30T17:29:35.236" v="832" actId="207"/>
          <ac:spMkLst>
            <pc:docMk/>
            <pc:sldMk cId="85619272" sldId="256"/>
            <ac:spMk id="21" creationId="{0264BF1F-3AB9-1D76-80AC-00E223F09EE0}"/>
          </ac:spMkLst>
        </pc:spChg>
      </pc:sldChg>
      <pc:sldChg chg="ord">
        <pc:chgData name="Kanamaluri, Tushar [C]" userId="4d0fbb22-c6ed-483d-9750-5053b27ea478" providerId="ADAL" clId="{3F2C7D5C-9765-4102-8C9B-5EECA8B8E360}" dt="2026-09-30T17:52:09.493" v="1060"/>
        <pc:sldMkLst>
          <pc:docMk/>
          <pc:sldMk cId="942699073" sldId="257"/>
        </pc:sldMkLst>
      </pc:sldChg>
      <pc:sldChg chg="addSp delSp modSp new mod setBg">
        <pc:chgData name="Kanamaluri, Tushar [C]" userId="4d0fbb22-c6ed-483d-9750-5053b27ea478" providerId="ADAL" clId="{3F2C7D5C-9765-4102-8C9B-5EECA8B8E360}" dt="2026-09-30T17:11:24.965" v="459" actId="114"/>
        <pc:sldMkLst>
          <pc:docMk/>
          <pc:sldMk cId="450179101" sldId="258"/>
        </pc:sldMkLst>
        <pc:spChg chg="add mod">
          <ac:chgData name="Kanamaluri, Tushar [C]" userId="4d0fbb22-c6ed-483d-9750-5053b27ea478" providerId="ADAL" clId="{3F2C7D5C-9765-4102-8C9B-5EECA8B8E360}" dt="2026-09-30T16:28:39.789" v="174" actId="20577"/>
          <ac:spMkLst>
            <pc:docMk/>
            <pc:sldMk cId="450179101" sldId="258"/>
            <ac:spMk id="2" creationId="{1C9236DF-ABEC-F196-A7E7-3FE8FC9F344A}"/>
          </ac:spMkLst>
        </pc:spChg>
        <pc:spChg chg="add mod">
          <ac:chgData name="Kanamaluri, Tushar [C]" userId="4d0fbb22-c6ed-483d-9750-5053b27ea478" providerId="ADAL" clId="{3F2C7D5C-9765-4102-8C9B-5EECA8B8E360}" dt="2026-09-30T16:58:49.273" v="215" actId="20577"/>
          <ac:spMkLst>
            <pc:docMk/>
            <pc:sldMk cId="450179101" sldId="258"/>
            <ac:spMk id="3" creationId="{43B0056C-D0CA-94E2-716D-484D3A4A15D2}"/>
          </ac:spMkLst>
        </pc:spChg>
        <pc:spChg chg="add del mod">
          <ac:chgData name="Kanamaluri, Tushar [C]" userId="4d0fbb22-c6ed-483d-9750-5053b27ea478" providerId="ADAL" clId="{3F2C7D5C-9765-4102-8C9B-5EECA8B8E360}" dt="2026-09-30T17:04:44.235" v="235" actId="478"/>
          <ac:spMkLst>
            <pc:docMk/>
            <pc:sldMk cId="450179101" sldId="258"/>
            <ac:spMk id="8" creationId="{115CAB39-25FF-F997-A8C2-135D780F099D}"/>
          </ac:spMkLst>
        </pc:spChg>
        <pc:spChg chg="add mod">
          <ac:chgData name="Kanamaluri, Tushar [C]" userId="4d0fbb22-c6ed-483d-9750-5053b27ea478" providerId="ADAL" clId="{3F2C7D5C-9765-4102-8C9B-5EECA8B8E360}" dt="2026-09-30T17:06:57.724" v="362" actId="1076"/>
          <ac:spMkLst>
            <pc:docMk/>
            <pc:sldMk cId="450179101" sldId="258"/>
            <ac:spMk id="9" creationId="{C855717F-3FAF-9380-BD31-32B7DB2A151B}"/>
          </ac:spMkLst>
        </pc:spChg>
        <pc:spChg chg="add mod">
          <ac:chgData name="Kanamaluri, Tushar [C]" userId="4d0fbb22-c6ed-483d-9750-5053b27ea478" providerId="ADAL" clId="{3F2C7D5C-9765-4102-8C9B-5EECA8B8E360}" dt="2026-09-30T17:08:46.337" v="369" actId="20577"/>
          <ac:spMkLst>
            <pc:docMk/>
            <pc:sldMk cId="450179101" sldId="258"/>
            <ac:spMk id="15" creationId="{75949932-3AC0-E9FC-2105-9BB80571DB1D}"/>
          </ac:spMkLst>
        </pc:spChg>
        <pc:spChg chg="add mod">
          <ac:chgData name="Kanamaluri, Tushar [C]" userId="4d0fbb22-c6ed-483d-9750-5053b27ea478" providerId="ADAL" clId="{3F2C7D5C-9765-4102-8C9B-5EECA8B8E360}" dt="2026-09-30T17:09:26.713" v="402" actId="1035"/>
          <ac:spMkLst>
            <pc:docMk/>
            <pc:sldMk cId="450179101" sldId="258"/>
            <ac:spMk id="17" creationId="{20F21CB5-5D30-0805-BB34-0F1EDA88C87A}"/>
          </ac:spMkLst>
        </pc:spChg>
        <pc:spChg chg="add mod">
          <ac:chgData name="Kanamaluri, Tushar [C]" userId="4d0fbb22-c6ed-483d-9750-5053b27ea478" providerId="ADAL" clId="{3F2C7D5C-9765-4102-8C9B-5EECA8B8E360}" dt="2026-09-30T17:09:51.877" v="425" actId="20577"/>
          <ac:spMkLst>
            <pc:docMk/>
            <pc:sldMk cId="450179101" sldId="258"/>
            <ac:spMk id="22" creationId="{DFC7A845-035B-2D44-D94C-09B65C3B45BB}"/>
          </ac:spMkLst>
        </pc:spChg>
        <pc:spChg chg="add mod">
          <ac:chgData name="Kanamaluri, Tushar [C]" userId="4d0fbb22-c6ed-483d-9750-5053b27ea478" providerId="ADAL" clId="{3F2C7D5C-9765-4102-8C9B-5EECA8B8E360}" dt="2026-09-30T17:11:24.965" v="459" actId="114"/>
          <ac:spMkLst>
            <pc:docMk/>
            <pc:sldMk cId="450179101" sldId="258"/>
            <ac:spMk id="23" creationId="{05BF4237-B0FC-0527-86C8-230ACFF0F2FE}"/>
          </ac:spMkLst>
        </pc:spChg>
        <pc:picChg chg="add mod">
          <ac:chgData name="Kanamaluri, Tushar [C]" userId="4d0fbb22-c6ed-483d-9750-5053b27ea478" providerId="ADAL" clId="{3F2C7D5C-9765-4102-8C9B-5EECA8B8E360}" dt="2026-09-30T16:59:39.230" v="222" actId="1076"/>
          <ac:picMkLst>
            <pc:docMk/>
            <pc:sldMk cId="450179101" sldId="258"/>
            <ac:picMk id="5" creationId="{A242E7D7-901E-AA3B-2F03-AED40CC32F66}"/>
          </ac:picMkLst>
        </pc:picChg>
        <pc:cxnChg chg="add mod">
          <ac:chgData name="Kanamaluri, Tushar [C]" userId="4d0fbb22-c6ed-483d-9750-5053b27ea478" providerId="ADAL" clId="{3F2C7D5C-9765-4102-8C9B-5EECA8B8E360}" dt="2026-09-30T17:06:21.850" v="341" actId="1037"/>
          <ac:cxnSpMkLst>
            <pc:docMk/>
            <pc:sldMk cId="450179101" sldId="258"/>
            <ac:cxnSpMk id="7" creationId="{4C7CB410-C801-D29B-F79B-B34063E870F8}"/>
          </ac:cxnSpMkLst>
        </pc:cxnChg>
        <pc:cxnChg chg="add mod">
          <ac:chgData name="Kanamaluri, Tushar [C]" userId="4d0fbb22-c6ed-483d-9750-5053b27ea478" providerId="ADAL" clId="{3F2C7D5C-9765-4102-8C9B-5EECA8B8E360}" dt="2026-09-30T17:05:50.721" v="264" actId="14100"/>
          <ac:cxnSpMkLst>
            <pc:docMk/>
            <pc:sldMk cId="450179101" sldId="258"/>
            <ac:cxnSpMk id="10" creationId="{7A3B780E-472C-3974-CF77-2F244FD62F1C}"/>
          </ac:cxnSpMkLst>
        </pc:cxnChg>
        <pc:cxnChg chg="add mod">
          <ac:chgData name="Kanamaluri, Tushar [C]" userId="4d0fbb22-c6ed-483d-9750-5053b27ea478" providerId="ADAL" clId="{3F2C7D5C-9765-4102-8C9B-5EECA8B8E360}" dt="2026-09-30T17:05:57.227" v="265"/>
          <ac:cxnSpMkLst>
            <pc:docMk/>
            <pc:sldMk cId="450179101" sldId="258"/>
            <ac:cxnSpMk id="12" creationId="{749A25FD-ADEC-A02B-FAA3-13442568DB7D}"/>
          </ac:cxnSpMkLst>
        </pc:cxnChg>
        <pc:cxnChg chg="add mod">
          <ac:chgData name="Kanamaluri, Tushar [C]" userId="4d0fbb22-c6ed-483d-9750-5053b27ea478" providerId="ADAL" clId="{3F2C7D5C-9765-4102-8C9B-5EECA8B8E360}" dt="2026-09-30T17:06:01.100" v="266"/>
          <ac:cxnSpMkLst>
            <pc:docMk/>
            <pc:sldMk cId="450179101" sldId="258"/>
            <ac:cxnSpMk id="13" creationId="{A8F18630-727F-A5E9-E382-C40B8E5DE1CD}"/>
          </ac:cxnSpMkLst>
        </pc:cxnChg>
        <pc:cxnChg chg="add mod">
          <ac:chgData name="Kanamaluri, Tushar [C]" userId="4d0fbb22-c6ed-483d-9750-5053b27ea478" providerId="ADAL" clId="{3F2C7D5C-9765-4102-8C9B-5EECA8B8E360}" dt="2026-09-30T17:09:21.011" v="384" actId="13822"/>
          <ac:cxnSpMkLst>
            <pc:docMk/>
            <pc:sldMk cId="450179101" sldId="258"/>
            <ac:cxnSpMk id="19" creationId="{0F92667C-2B56-80FA-6CD0-F6753A3D5C03}"/>
          </ac:cxnSpMkLst>
        </pc:cxnChg>
        <pc:cxnChg chg="add mod">
          <ac:chgData name="Kanamaluri, Tushar [C]" userId="4d0fbb22-c6ed-483d-9750-5053b27ea478" providerId="ADAL" clId="{3F2C7D5C-9765-4102-8C9B-5EECA8B8E360}" dt="2026-09-30T17:09:35.290" v="404" actId="1076"/>
          <ac:cxnSpMkLst>
            <pc:docMk/>
            <pc:sldMk cId="450179101" sldId="258"/>
            <ac:cxnSpMk id="20" creationId="{76482D19-D2C5-4D56-395C-F184FA58C7B6}"/>
          </ac:cxnSpMkLst>
        </pc:cxnChg>
      </pc:sldChg>
      <pc:sldChg chg="addSp delSp modSp new mod setBg">
        <pc:chgData name="Kanamaluri, Tushar [C]" userId="4d0fbb22-c6ed-483d-9750-5053b27ea478" providerId="ADAL" clId="{3F2C7D5C-9765-4102-8C9B-5EECA8B8E360}" dt="2026-09-30T17:21:03.541" v="819" actId="14100"/>
        <pc:sldMkLst>
          <pc:docMk/>
          <pc:sldMk cId="3549656979" sldId="259"/>
        </pc:sldMkLst>
        <pc:spChg chg="add mod">
          <ac:chgData name="Kanamaluri, Tushar [C]" userId="4d0fbb22-c6ed-483d-9750-5053b27ea478" providerId="ADAL" clId="{3F2C7D5C-9765-4102-8C9B-5EECA8B8E360}" dt="2026-09-30T17:18:45.313" v="697" actId="20577"/>
          <ac:spMkLst>
            <pc:docMk/>
            <pc:sldMk cId="3549656979" sldId="259"/>
            <ac:spMk id="4" creationId="{6B376D15-7140-518D-D614-395299C81533}"/>
          </ac:spMkLst>
        </pc:spChg>
        <pc:spChg chg="add mod">
          <ac:chgData name="Kanamaluri, Tushar [C]" userId="4d0fbb22-c6ed-483d-9750-5053b27ea478" providerId="ADAL" clId="{3F2C7D5C-9765-4102-8C9B-5EECA8B8E360}" dt="2026-09-30T17:17:54.011" v="598" actId="13926"/>
          <ac:spMkLst>
            <pc:docMk/>
            <pc:sldMk cId="3549656979" sldId="259"/>
            <ac:spMk id="5" creationId="{3CF372C9-4527-2308-30E2-6E98AF594819}"/>
          </ac:spMkLst>
        </pc:spChg>
        <pc:spChg chg="add mod">
          <ac:chgData name="Kanamaluri, Tushar [C]" userId="4d0fbb22-c6ed-483d-9750-5053b27ea478" providerId="ADAL" clId="{3F2C7D5C-9765-4102-8C9B-5EECA8B8E360}" dt="2026-09-30T17:20:37.180" v="813" actId="20577"/>
          <ac:spMkLst>
            <pc:docMk/>
            <pc:sldMk cId="3549656979" sldId="259"/>
            <ac:spMk id="7" creationId="{DF984E2F-5BDB-C044-2A6B-C5AC6FE87BDB}"/>
          </ac:spMkLst>
        </pc:spChg>
        <pc:spChg chg="add mod">
          <ac:chgData name="Kanamaluri, Tushar [C]" userId="4d0fbb22-c6ed-483d-9750-5053b27ea478" providerId="ADAL" clId="{3F2C7D5C-9765-4102-8C9B-5EECA8B8E360}" dt="2026-09-30T17:21:03.541" v="819" actId="14100"/>
          <ac:spMkLst>
            <pc:docMk/>
            <pc:sldMk cId="3549656979" sldId="259"/>
            <ac:spMk id="9" creationId="{7D240648-32D4-6AA9-62A2-021E598AF335}"/>
          </ac:spMkLst>
        </pc:spChg>
        <pc:picChg chg="add del">
          <ac:chgData name="Kanamaluri, Tushar [C]" userId="4d0fbb22-c6ed-483d-9750-5053b27ea478" providerId="ADAL" clId="{3F2C7D5C-9765-4102-8C9B-5EECA8B8E360}" dt="2026-09-30T17:12:03.860" v="462" actId="22"/>
          <ac:picMkLst>
            <pc:docMk/>
            <pc:sldMk cId="3549656979" sldId="259"/>
            <ac:picMk id="3" creationId="{E2795C7B-62B9-3DDD-1F70-BA70E7DC532D}"/>
          </ac:picMkLst>
        </pc:picChg>
      </pc:sldChg>
      <pc:sldChg chg="addSp delSp modSp new mod">
        <pc:chgData name="Kanamaluri, Tushar [C]" userId="4d0fbb22-c6ed-483d-9750-5053b27ea478" providerId="ADAL" clId="{3F2C7D5C-9765-4102-8C9B-5EECA8B8E360}" dt="2026-09-30T17:46:32.785" v="1058"/>
        <pc:sldMkLst>
          <pc:docMk/>
          <pc:sldMk cId="3903705374" sldId="260"/>
        </pc:sldMkLst>
        <pc:spChg chg="add mod">
          <ac:chgData name="Kanamaluri, Tushar [C]" userId="4d0fbb22-c6ed-483d-9750-5053b27ea478" providerId="ADAL" clId="{3F2C7D5C-9765-4102-8C9B-5EECA8B8E360}" dt="2026-09-30T17:46:06.454" v="1049" actId="113"/>
          <ac:spMkLst>
            <pc:docMk/>
            <pc:sldMk cId="3903705374" sldId="260"/>
            <ac:spMk id="10" creationId="{17114479-9452-EC30-3919-205792A92241}"/>
          </ac:spMkLst>
        </pc:spChg>
        <pc:spChg chg="add mod">
          <ac:chgData name="Kanamaluri, Tushar [C]" userId="4d0fbb22-c6ed-483d-9750-5053b27ea478" providerId="ADAL" clId="{3F2C7D5C-9765-4102-8C9B-5EECA8B8E360}" dt="2026-09-30T17:46:12.036" v="1050" actId="113"/>
          <ac:spMkLst>
            <pc:docMk/>
            <pc:sldMk cId="3903705374" sldId="260"/>
            <ac:spMk id="12" creationId="{83097A16-1333-DDF4-CFC4-9A6991982DA8}"/>
          </ac:spMkLst>
        </pc:spChg>
        <pc:spChg chg="add mod">
          <ac:chgData name="Kanamaluri, Tushar [C]" userId="4d0fbb22-c6ed-483d-9750-5053b27ea478" providerId="ADAL" clId="{3F2C7D5C-9765-4102-8C9B-5EECA8B8E360}" dt="2026-09-30T17:46:17.047" v="1053" actId="113"/>
          <ac:spMkLst>
            <pc:docMk/>
            <pc:sldMk cId="3903705374" sldId="260"/>
            <ac:spMk id="14" creationId="{72431D2E-BD9E-E9A3-800D-2A2981801510}"/>
          </ac:spMkLst>
        </pc:spChg>
        <pc:spChg chg="add del mod">
          <ac:chgData name="Kanamaluri, Tushar [C]" userId="4d0fbb22-c6ed-483d-9750-5053b27ea478" providerId="ADAL" clId="{3F2C7D5C-9765-4102-8C9B-5EECA8B8E360}" dt="2026-09-30T17:46:31.904" v="1056" actId="113"/>
          <ac:spMkLst>
            <pc:docMk/>
            <pc:sldMk cId="3903705374" sldId="260"/>
            <ac:spMk id="16" creationId="{E490DEA6-3A1C-253B-4AC2-FB2C9015AF5A}"/>
          </ac:spMkLst>
        </pc:spChg>
        <pc:spChg chg="add del">
          <ac:chgData name="Kanamaluri, Tushar [C]" userId="4d0fbb22-c6ed-483d-9750-5053b27ea478" providerId="ADAL" clId="{3F2C7D5C-9765-4102-8C9B-5EECA8B8E360}" dt="2026-09-30T17:46:15.992" v="1052" actId="22"/>
          <ac:spMkLst>
            <pc:docMk/>
            <pc:sldMk cId="3903705374" sldId="260"/>
            <ac:spMk id="18" creationId="{0C69B27B-0AF1-CD0E-9F56-7182E25B4395}"/>
          </ac:spMkLst>
        </pc:spChg>
        <pc:spChg chg="add del mod">
          <ac:chgData name="Kanamaluri, Tushar [C]" userId="4d0fbb22-c6ed-483d-9750-5053b27ea478" providerId="ADAL" clId="{3F2C7D5C-9765-4102-8C9B-5EECA8B8E360}" dt="2026-09-30T17:46:32.785" v="1058"/>
          <ac:spMkLst>
            <pc:docMk/>
            <pc:sldMk cId="3903705374" sldId="260"/>
            <ac:spMk id="20" creationId="{E5851833-5A35-DFFA-05B4-24A59FF21EBF}"/>
          </ac:spMkLst>
        </pc:spChg>
        <pc:picChg chg="add mod modCrop">
          <ac:chgData name="Kanamaluri, Tushar [C]" userId="4d0fbb22-c6ed-483d-9750-5053b27ea478" providerId="ADAL" clId="{3F2C7D5C-9765-4102-8C9B-5EECA8B8E360}" dt="2026-09-30T17:43:47.826" v="1022" actId="732"/>
          <ac:picMkLst>
            <pc:docMk/>
            <pc:sldMk cId="3903705374" sldId="260"/>
            <ac:picMk id="3" creationId="{06B0EF16-6206-8636-49F2-88071784FB2B}"/>
          </ac:picMkLst>
        </pc:picChg>
        <pc:picChg chg="add mod">
          <ac:chgData name="Kanamaluri, Tushar [C]" userId="4d0fbb22-c6ed-483d-9750-5053b27ea478" providerId="ADAL" clId="{3F2C7D5C-9765-4102-8C9B-5EECA8B8E360}" dt="2026-09-30T17:42:38.540" v="973" actId="1038"/>
          <ac:picMkLst>
            <pc:docMk/>
            <pc:sldMk cId="3903705374" sldId="260"/>
            <ac:picMk id="5" creationId="{A9D0BADB-3701-F99C-9928-D94F33209CA5}"/>
          </ac:picMkLst>
        </pc:picChg>
        <pc:picChg chg="add mod">
          <ac:chgData name="Kanamaluri, Tushar [C]" userId="4d0fbb22-c6ed-483d-9750-5053b27ea478" providerId="ADAL" clId="{3F2C7D5C-9765-4102-8C9B-5EECA8B8E360}" dt="2026-09-30T17:45:17.075" v="1037" actId="1076"/>
          <ac:picMkLst>
            <pc:docMk/>
            <pc:sldMk cId="3903705374" sldId="260"/>
            <ac:picMk id="7" creationId="{88A130B4-AEDE-4EE6-B060-73AD7927C292}"/>
          </ac:picMkLst>
        </pc:picChg>
        <pc:picChg chg="add mod modCrop">
          <ac:chgData name="Kanamaluri, Tushar [C]" userId="4d0fbb22-c6ed-483d-9750-5053b27ea478" providerId="ADAL" clId="{3F2C7D5C-9765-4102-8C9B-5EECA8B8E360}" dt="2026-09-30T17:45:39.156" v="1041" actId="1076"/>
          <ac:picMkLst>
            <pc:docMk/>
            <pc:sldMk cId="3903705374" sldId="260"/>
            <ac:picMk id="9" creationId="{72D9D66A-451D-8A3D-6A77-956805D92DCC}"/>
          </ac:picMkLst>
        </pc:picChg>
      </pc:sldChg>
      <pc:sldChg chg="new del">
        <pc:chgData name="Kanamaluri, Tushar [C]" userId="4d0fbb22-c6ed-483d-9750-5053b27ea478" providerId="ADAL" clId="{3F2C7D5C-9765-4102-8C9B-5EECA8B8E360}" dt="2026-09-30T17:33:15.543" v="834" actId="680"/>
        <pc:sldMkLst>
          <pc:docMk/>
          <pc:sldMk cId="3962660107" sldId="260"/>
        </pc:sldMkLst>
      </pc:sldChg>
      <pc:sldChg chg="add del setBg">
        <pc:chgData name="Kanamaluri, Tushar [C]" userId="4d0fbb22-c6ed-483d-9750-5053b27ea478" providerId="ADAL" clId="{3F2C7D5C-9765-4102-8C9B-5EECA8B8E360}" dt="2026-09-30T17:33:26.081" v="837"/>
        <pc:sldMkLst>
          <pc:docMk/>
          <pc:sldMk cId="3749972192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E24C8-0AFD-4622-B56B-D342ACA7CFB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FE199-4D5C-49E8-8CA4-96389855C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54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 DASHBOARD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FE199-4D5C-49E8-8CA4-96389855C9E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700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FE199-4D5C-49E8-8CA4-96389855C9E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58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AFD0-AD1D-BC5C-F7D5-225E1F6EA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CFDD3-482E-D994-504B-86E247280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445D8-3E85-2105-70FE-C6E7E034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AB919-CE86-D5E7-BF74-9DC350002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D7D97-B19C-5720-96C6-EF5C6DAB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011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D811-1A52-CB34-0F8B-62B2E255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83323-8238-23DC-DD42-15C0027F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8E41-AE70-A879-2615-E9E713F8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4E062-7284-8BC7-5CE8-4E3EC3BF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724C-9CBD-D2BC-AD81-B88F6E40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73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7673-D5AF-ADF5-D876-B77ACCFB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9C34-6D0D-9AF3-F919-8AA5C70A4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2F76-27F2-2607-1504-F9A6AC50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D9F4B-7BDA-366D-7E5C-5E59F780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DBEB-8140-65D8-9F30-BA2F5B61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00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2F8E-923F-8F56-E1BB-019B94FE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F75DB-04F1-AD7D-4FF4-53B26BE01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F6A92-856D-01BF-7E5D-2C33E864C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BE57D-5D2C-6105-EA42-AA6AB0CB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4AD68-9F15-D565-8AB8-26852D0F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CB925-DB7D-F1B2-CF4F-595322F8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61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A8AE-DEF9-BF97-9D44-78180D15C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22E0E-A684-19E2-E359-EE976880E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1EBF0-964B-985F-476E-9790E2F07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ED7D9-216C-73AB-E08B-7674C5891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EA4DA-1A76-F993-7434-73AAA8EB3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3961E7-B2D8-198C-6936-8F37ED21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E9934-D6CA-B5DC-F578-9BDE1582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FC7D7-D1A8-B55A-15FB-9127129D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8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D58B-19B5-33B4-3DFC-98B7A518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AA67A-190B-0FE0-C8A3-45DBC4CF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484A4-7CE1-45B8-45A6-703E6774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ECFA1-3B7F-3830-E81F-5B740FE5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8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11507C-AE64-AA62-5507-4E355A91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ECCA1-1133-FD67-368D-30F7FB2AD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49E29-0873-22C0-D2A3-D23EEFAB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51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B4B6E-0112-6E3C-7B10-4F0AA580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6E6EB-5550-3EBB-1127-38DDF1C50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89619-0EAA-4F73-622F-22F0E1D86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08318-2C33-B575-0A5C-5BA5F41C0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864B7-1F31-6937-7488-997AC8BD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8FB9A-DF46-4A23-D171-353C8273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93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BC56-D2B1-CA6C-928C-3E2418F83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3C529-7250-6C0A-2653-8D8A849F9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B20E9-D209-E071-7AAD-E217DE20B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7F171-C42E-22E9-AE1F-63E3DE35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C4F40-DBBD-FAFE-ECD2-3AFD6CDC4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59864-8BCB-A7EB-7FD4-D1AA9EB4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74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8075-B2C7-85A8-BB6D-0D81D7A6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502C5-F296-0488-8637-2DB303D54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EA6AE-9728-2661-3E35-BAF710F18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5881-6BD8-F78B-4C6B-A41EAF3F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D9947-27A4-F323-A0A7-95EB05DA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09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7D101B-BFA1-3EAB-C007-B6E08ABBD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857AE-C1B5-75D9-2D5A-C96012E23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222F9-F1A3-596F-BCD0-1E99CDED6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A6AA1-A90D-DB85-078F-AC62FE44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9EE6C-BEB3-6888-1E22-0D2C023B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25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E3EEA-9C73-5CE6-296C-486D3B3C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C6354-E426-639D-0B9D-FA0DF5D5C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16707-6B9B-025F-0D34-FC6D72198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4630D-1CEC-4130-9744-2879E1AAF2A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19499-45E7-B272-BF6D-68928E2B2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B0BAD-6CB6-1051-D691-18298709A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4917B-E881-4D20-9E7A-DCCE07ED4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50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A3C75-222F-76B5-6138-2470B29E12E7}"/>
              </a:ext>
            </a:extLst>
          </p:cNvPr>
          <p:cNvSpPr txBox="1"/>
          <p:nvPr/>
        </p:nvSpPr>
        <p:spPr>
          <a:xfrm>
            <a:off x="0" y="0"/>
            <a:ext cx="12191999" cy="15155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67F997-E14C-8FBF-1057-2CDCCF863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6" y="210606"/>
            <a:ext cx="1117600" cy="11645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7D71A7-AD80-493E-E71C-3F11D76C3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326" y="357552"/>
            <a:ext cx="3216549" cy="8124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0B008C-B7C0-8872-58EC-3DC5A3B87E8C}"/>
              </a:ext>
            </a:extLst>
          </p:cNvPr>
          <p:cNvSpPr txBox="1"/>
          <p:nvPr/>
        </p:nvSpPr>
        <p:spPr>
          <a:xfrm>
            <a:off x="5087186" y="111435"/>
            <a:ext cx="696806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CAPSTONE PROJECT 2025- MECHANICAL ENGINEERING DEPT.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935C1F-04A4-EC7D-2500-E74D4B9747C4}"/>
              </a:ext>
            </a:extLst>
          </p:cNvPr>
          <p:cNvSpPr txBox="1"/>
          <p:nvPr/>
        </p:nvSpPr>
        <p:spPr>
          <a:xfrm>
            <a:off x="9256041" y="592202"/>
            <a:ext cx="2859450" cy="5539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BATCH 12-  KANAMALURI SAI VENKAT TUSHAR</a:t>
            </a:r>
            <a:br>
              <a:rPr lang="en-US" sz="1000" b="1" dirty="0">
                <a:solidFill>
                  <a:schemeClr val="bg1"/>
                </a:solidFill>
              </a:rPr>
            </a:br>
            <a:r>
              <a:rPr lang="en-US" sz="1000" b="1" dirty="0">
                <a:solidFill>
                  <a:schemeClr val="bg1"/>
                </a:solidFill>
              </a:rPr>
              <a:t>                          SHYAM SUNDAR BEZAWADA &amp;</a:t>
            </a:r>
            <a:br>
              <a:rPr lang="en-US" sz="1000" b="1" dirty="0">
                <a:solidFill>
                  <a:schemeClr val="bg1"/>
                </a:solidFill>
              </a:rPr>
            </a:br>
            <a:r>
              <a:rPr lang="en-US" sz="1000" b="1" dirty="0">
                <a:solidFill>
                  <a:schemeClr val="bg1"/>
                </a:solidFill>
              </a:rPr>
              <a:t>                           MOHSIN ALI KHAN </a:t>
            </a:r>
            <a:endParaRPr lang="en-IN" sz="10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1D203E-8C9D-9D1A-CC9F-B03A51E01CAD}"/>
              </a:ext>
            </a:extLst>
          </p:cNvPr>
          <p:cNvSpPr txBox="1"/>
          <p:nvPr/>
        </p:nvSpPr>
        <p:spPr>
          <a:xfrm>
            <a:off x="-1" y="1527566"/>
            <a:ext cx="12191999" cy="40011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t"/>
            <a:r>
              <a:rPr lang="en-IN" sz="2000" b="1" dirty="0"/>
              <a:t>                              PROJECT TITLE - ERP-Integrated Manufacturing &amp; Supply Chain Control Tower</a:t>
            </a:r>
          </a:p>
        </p:txBody>
      </p:sp>
      <p:pic>
        <p:nvPicPr>
          <p:cNvPr id="17" name="Picture 16" descr="Download make in india logo vector, make in india icon free vector">
            <a:extLst>
              <a:ext uri="{FF2B5EF4-FFF2-40B4-BE49-F238E27FC236}">
                <a16:creationId xmlns:a16="http://schemas.microsoft.com/office/drawing/2014/main" id="{358CBF14-901A-AEBA-1CBD-A1DD8300C0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975" t="22400" r="7871" b="18544"/>
          <a:stretch>
            <a:fillRect/>
          </a:stretch>
        </p:blipFill>
        <p:spPr>
          <a:xfrm>
            <a:off x="5303600" y="550084"/>
            <a:ext cx="1107298" cy="6463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C58BB8-1D88-D6BC-9BF0-1A362356F428}"/>
              </a:ext>
            </a:extLst>
          </p:cNvPr>
          <p:cNvSpPr txBox="1"/>
          <p:nvPr/>
        </p:nvSpPr>
        <p:spPr>
          <a:xfrm>
            <a:off x="4740039" y="1169979"/>
            <a:ext cx="2507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chemeClr val="bg1"/>
                </a:solidFill>
                <a:latin typeface="Abadi" panose="020F0502020204030204" pitchFamily="34" charset="0"/>
                <a:cs typeface="Aharoni" panose="02010803020104030203" pitchFamily="2" charset="-79"/>
              </a:rPr>
              <a:t>An Initiative by The Government of India</a:t>
            </a:r>
            <a:br>
              <a:rPr lang="en-US" i="1" dirty="0">
                <a:solidFill>
                  <a:schemeClr val="bg1"/>
                </a:solidFill>
              </a:rPr>
            </a:br>
            <a:endParaRPr lang="en-IN" i="1" dirty="0">
              <a:solidFill>
                <a:schemeClr val="bg1"/>
              </a:solidFill>
            </a:endParaRPr>
          </a:p>
        </p:txBody>
      </p:sp>
      <p:pic>
        <p:nvPicPr>
          <p:cNvPr id="19" name="Picture 18" descr="Renuka Precision">
            <a:extLst>
              <a:ext uri="{FF2B5EF4-FFF2-40B4-BE49-F238E27FC236}">
                <a16:creationId xmlns:a16="http://schemas.microsoft.com/office/drawing/2014/main" id="{0D3740F9-1A61-87D4-5FBB-1E65FF5DE7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77" t="23334" r="7361" b="29259"/>
          <a:stretch>
            <a:fillRect/>
          </a:stretch>
        </p:blipFill>
        <p:spPr>
          <a:xfrm>
            <a:off x="7318868" y="540367"/>
            <a:ext cx="1669511" cy="55399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99E645-646C-B6D3-B06F-9A1C37F43ED9}"/>
              </a:ext>
            </a:extLst>
          </p:cNvPr>
          <p:cNvSpPr txBox="1"/>
          <p:nvPr/>
        </p:nvSpPr>
        <p:spPr>
          <a:xfrm>
            <a:off x="7188541" y="1109962"/>
            <a:ext cx="27653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LOCAL INDUSTRY COLLABORATOR</a:t>
            </a:r>
            <a:endParaRPr lang="en-IN" sz="9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64BF1F-3AB9-1D76-80AC-00E223F09EE0}"/>
              </a:ext>
            </a:extLst>
          </p:cNvPr>
          <p:cNvSpPr txBox="1"/>
          <p:nvPr/>
        </p:nvSpPr>
        <p:spPr>
          <a:xfrm>
            <a:off x="207429" y="2400735"/>
            <a:ext cx="11777137" cy="427809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INDUSTRY COLLABORATOR BACKGROUND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-Situated in Hyderabad , India ; Renuka Precision systems (RPS) 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is a high-precision machining company serving industrial equipment, automotive, and heavy machinery sectors worldwide. 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organization operates CNC turning, milling, grinding, and inspection processes while managing inventory, procurement, supplier performance, and production planning. 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Increasing operational complexity highlighted the need for an integrated decision-support platform capable of improving visibility and supporting data-driven decision-making across the manufacturing value chain.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- Supplier lead-time variability and sourcing risks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- Excess Inventory and Working Capital Utilization</a:t>
            </a:r>
          </a:p>
          <a:p>
            <a:pPr lvl="0" fontAlgn="t"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- Procurement inefficiencies and limited spend visibility</a:t>
            </a:r>
          </a:p>
          <a:p>
            <a:pPr lvl="0" fontAlgn="t"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- Production scheduling and capacity constraints</a:t>
            </a:r>
          </a:p>
          <a:p>
            <a:pPr lvl="0" fontAlgn="t"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- Disconnected operational information systems</a:t>
            </a:r>
          </a:p>
          <a:p>
            <a:pPr lvl="0" fontAlgn="t">
              <a:lnSpc>
                <a:spcPct val="100000"/>
              </a:lnSpc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ct val="10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Create a centralized platform integrating inventory, procurement, supplier, and production data into a unified decision-support framework.</a:t>
            </a:r>
          </a:p>
          <a:p>
            <a:pPr fontAlgn="t"/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DB5F3E-4540-932F-3BAC-43196BE8E9B3}"/>
              </a:ext>
            </a:extLst>
          </p:cNvPr>
          <p:cNvSpPr txBox="1"/>
          <p:nvPr/>
        </p:nvSpPr>
        <p:spPr>
          <a:xfrm>
            <a:off x="4859866" y="1997062"/>
            <a:ext cx="1851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561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BA9BF77-E385-90FB-2D22-E40681AAAC97}"/>
              </a:ext>
            </a:extLst>
          </p:cNvPr>
          <p:cNvSpPr/>
          <p:nvPr/>
        </p:nvSpPr>
        <p:spPr>
          <a:xfrm>
            <a:off x="304801" y="694268"/>
            <a:ext cx="2032000" cy="52070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br>
              <a:rPr lang="en-IN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</a:p>
          <a:p>
            <a:endParaRPr lang="en-IN" sz="11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05D2A7A-3AAC-CCA6-C75D-BC61B9EF6C4E}"/>
              </a:ext>
            </a:extLst>
          </p:cNvPr>
          <p:cNvSpPr/>
          <p:nvPr/>
        </p:nvSpPr>
        <p:spPr>
          <a:xfrm>
            <a:off x="304801" y="1963116"/>
            <a:ext cx="2032000" cy="51762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500" b="1" dirty="0">
                <a:solidFill>
                  <a:schemeClr val="tx1"/>
                </a:solidFill>
              </a:rPr>
              <a:t>INVENTORY OPTIMIZATION</a:t>
            </a:r>
            <a:endParaRPr lang="en-IN" sz="1500" b="1" dirty="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B5D4815-44B5-31E7-3401-55D072781ABF}"/>
              </a:ext>
            </a:extLst>
          </p:cNvPr>
          <p:cNvSpPr/>
          <p:nvPr/>
        </p:nvSpPr>
        <p:spPr>
          <a:xfrm>
            <a:off x="304800" y="3233114"/>
            <a:ext cx="2032001" cy="51762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500" b="1" dirty="0"/>
              <a:t>   </a:t>
            </a: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 </a:t>
            </a:r>
            <a:b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ANALYTICS </a:t>
            </a:r>
            <a:endParaRPr lang="en-IN" sz="1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0BABBBA-6BF2-91FD-FCD1-2E5A768E5B66}"/>
              </a:ext>
            </a:extLst>
          </p:cNvPr>
          <p:cNvSpPr/>
          <p:nvPr/>
        </p:nvSpPr>
        <p:spPr>
          <a:xfrm>
            <a:off x="304799" y="4545449"/>
            <a:ext cx="2032000" cy="51762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PROCUREMENT</a:t>
            </a:r>
          </a:p>
          <a:p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ANALYTICS</a:t>
            </a:r>
            <a:endParaRPr lang="en-IN" sz="1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049FFC7-6CE1-F1D3-5208-BF1B4A237937}"/>
              </a:ext>
            </a:extLst>
          </p:cNvPr>
          <p:cNvSpPr/>
          <p:nvPr/>
        </p:nvSpPr>
        <p:spPr>
          <a:xfrm>
            <a:off x="304799" y="5878945"/>
            <a:ext cx="2032000" cy="51762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 </a:t>
            </a:r>
            <a:b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  <a:endParaRPr lang="en-IN" sz="1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F749884-93D0-E3BD-A202-21F32C2E4900}"/>
              </a:ext>
            </a:extLst>
          </p:cNvPr>
          <p:cNvSpPr/>
          <p:nvPr/>
        </p:nvSpPr>
        <p:spPr>
          <a:xfrm>
            <a:off x="3301997" y="694268"/>
            <a:ext cx="2032000" cy="68368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Collect inventory,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supplier, procurement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and production data</a:t>
            </a:r>
          </a:p>
          <a:p>
            <a:pPr algn="ctr"/>
            <a:endParaRPr lang="en-IN" sz="12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FB7642-9E97-BEF8-8F8E-63D3A143D93B}"/>
              </a:ext>
            </a:extLst>
          </p:cNvPr>
          <p:cNvSpPr/>
          <p:nvPr/>
        </p:nvSpPr>
        <p:spPr>
          <a:xfrm>
            <a:off x="3361264" y="1905000"/>
            <a:ext cx="1972733" cy="68368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Calculate EOQ,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Safety Stock and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Reorder Point.</a:t>
            </a:r>
          </a:p>
          <a:p>
            <a:pPr algn="ctr"/>
            <a:endParaRPr lang="en-IN" sz="1200" dirty="0">
              <a:cs typeface="Arial" panose="020B0604020202020204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9F4D8A9-BC24-B01E-9A1F-4DAC5F9B4911}"/>
              </a:ext>
            </a:extLst>
          </p:cNvPr>
          <p:cNvSpPr/>
          <p:nvPr/>
        </p:nvSpPr>
        <p:spPr>
          <a:xfrm>
            <a:off x="3361264" y="3115732"/>
            <a:ext cx="1972733" cy="86650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Evaluate supplier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performance through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lead time, quality,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and delivery metrics</a:t>
            </a:r>
            <a:r>
              <a:rPr lang="en-IN" sz="1200" dirty="0"/>
              <a:t>.</a:t>
            </a:r>
          </a:p>
          <a:p>
            <a:pPr algn="ctr"/>
            <a:endParaRPr lang="en-IN" sz="1200" dirty="0">
              <a:cs typeface="Arial" panose="020B0604020202020204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9F8E9A5-FF76-A807-F727-ED6B566171AA}"/>
              </a:ext>
            </a:extLst>
          </p:cNvPr>
          <p:cNvSpPr/>
          <p:nvPr/>
        </p:nvSpPr>
        <p:spPr>
          <a:xfrm>
            <a:off x="3361264" y="4545449"/>
            <a:ext cx="1972733" cy="85611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 err="1">
                <a:solidFill>
                  <a:schemeClr val="tx1"/>
                </a:solidFill>
              </a:rPr>
              <a:t>Analyze</a:t>
            </a:r>
            <a:r>
              <a:rPr lang="en-IN" sz="1200" b="1" dirty="0">
                <a:solidFill>
                  <a:schemeClr val="tx1"/>
                </a:solidFill>
              </a:rPr>
              <a:t> spend,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procurement KPIs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and supplier risk.</a:t>
            </a:r>
          </a:p>
          <a:p>
            <a:pPr algn="ctr"/>
            <a:endParaRPr lang="en-IN" sz="1200" dirty="0">
              <a:cs typeface="Arial" panose="020B0604020202020204" pitchFamily="34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3BEAC6E-C942-DEC9-5FFC-67A7EFD21828}"/>
              </a:ext>
            </a:extLst>
          </p:cNvPr>
          <p:cNvSpPr/>
          <p:nvPr/>
        </p:nvSpPr>
        <p:spPr>
          <a:xfrm>
            <a:off x="3361264" y="5768880"/>
            <a:ext cx="2032000" cy="737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Support production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scheduling and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capacity planning.</a:t>
            </a:r>
          </a:p>
          <a:p>
            <a:pPr algn="ctr"/>
            <a:endParaRPr lang="en-IN" sz="1200" dirty="0">
              <a:cs typeface="Arial" panose="020B0604020202020204" pitchFamily="34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ED71D9C-9EBF-3E62-3C7A-A1ACCEA72392}"/>
              </a:ext>
            </a:extLst>
          </p:cNvPr>
          <p:cNvSpPr/>
          <p:nvPr/>
        </p:nvSpPr>
        <p:spPr>
          <a:xfrm>
            <a:off x="6096000" y="694268"/>
            <a:ext cx="1972733" cy="737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Material Master data and Inventory records.</a:t>
            </a:r>
          </a:p>
          <a:p>
            <a:pPr algn="ctr"/>
            <a:endParaRPr lang="en-IN" sz="1200" dirty="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0A844D90-8DA0-3BDB-9695-AC6C60F6D9B3}"/>
              </a:ext>
            </a:extLst>
          </p:cNvPr>
          <p:cNvSpPr/>
          <p:nvPr/>
        </p:nvSpPr>
        <p:spPr>
          <a:xfrm>
            <a:off x="6155267" y="1905000"/>
            <a:ext cx="1972733" cy="68368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Inventory planning for steel stock , tooling and consumables</a:t>
            </a:r>
          </a:p>
          <a:p>
            <a:pPr algn="ctr"/>
            <a:endParaRPr lang="en-IN" sz="1200" dirty="0">
              <a:cs typeface="Arial" panose="020B0604020202020204" pitchFamily="34" charset="0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0B24522-B278-CFA1-C3F4-59802A5B7583}"/>
              </a:ext>
            </a:extLst>
          </p:cNvPr>
          <p:cNvSpPr/>
          <p:nvPr/>
        </p:nvSpPr>
        <p:spPr>
          <a:xfrm>
            <a:off x="6155267" y="3115732"/>
            <a:ext cx="1972733" cy="86650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Supplier monitoring for SKF, Sandvik , THK and Tata Steel </a:t>
            </a:r>
            <a:endParaRPr lang="en-IN" sz="1200" dirty="0"/>
          </a:p>
          <a:p>
            <a:pPr algn="ctr"/>
            <a:endParaRPr lang="en-IN" sz="1200" dirty="0">
              <a:cs typeface="Arial" panose="020B0604020202020204" pitchFamily="34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3D2BCF1-CE3D-E50C-9FEF-72899452149F}"/>
              </a:ext>
            </a:extLst>
          </p:cNvPr>
          <p:cNvSpPr/>
          <p:nvPr/>
        </p:nvSpPr>
        <p:spPr>
          <a:xfrm>
            <a:off x="6155267" y="4545449"/>
            <a:ext cx="1972733" cy="85611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Spend Analysis. Supplier Dashboard and Sourcing Visibility 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4B6F4C7-52F4-6CC8-DE9D-CAB9C5FEE5DA}"/>
              </a:ext>
            </a:extLst>
          </p:cNvPr>
          <p:cNvSpPr/>
          <p:nvPr/>
        </p:nvSpPr>
        <p:spPr>
          <a:xfrm>
            <a:off x="6146806" y="5836616"/>
            <a:ext cx="2209800" cy="73775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Manufacturing and planning across CNC Turning , Milling and Inspection</a:t>
            </a:r>
          </a:p>
          <a:p>
            <a:pPr algn="ctr"/>
            <a:endParaRPr lang="en-IN" sz="1200" dirty="0">
              <a:cs typeface="Arial" panose="020B0604020202020204" pitchFamily="34" charset="0"/>
            </a:endParaRPr>
          </a:p>
        </p:txBody>
      </p:sp>
      <p:sp>
        <p:nvSpPr>
          <p:cNvPr id="87" name="Arrow: Pentagon 86">
            <a:extLst>
              <a:ext uri="{FF2B5EF4-FFF2-40B4-BE49-F238E27FC236}">
                <a16:creationId xmlns:a16="http://schemas.microsoft.com/office/drawing/2014/main" id="{1C7C1DE8-5207-C2B5-DC7B-503848145C2F}"/>
              </a:ext>
            </a:extLst>
          </p:cNvPr>
          <p:cNvSpPr/>
          <p:nvPr/>
        </p:nvSpPr>
        <p:spPr>
          <a:xfrm>
            <a:off x="2548467" y="931333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Arrow: Pentagon 88">
            <a:extLst>
              <a:ext uri="{FF2B5EF4-FFF2-40B4-BE49-F238E27FC236}">
                <a16:creationId xmlns:a16="http://schemas.microsoft.com/office/drawing/2014/main" id="{034559B7-B880-C6AC-5EAF-B2E4FEDB6008}"/>
              </a:ext>
            </a:extLst>
          </p:cNvPr>
          <p:cNvSpPr/>
          <p:nvPr/>
        </p:nvSpPr>
        <p:spPr>
          <a:xfrm>
            <a:off x="2548467" y="2246842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Arrow: Pentagon 90">
            <a:extLst>
              <a:ext uri="{FF2B5EF4-FFF2-40B4-BE49-F238E27FC236}">
                <a16:creationId xmlns:a16="http://schemas.microsoft.com/office/drawing/2014/main" id="{2B3809A5-810B-8DA2-AF0A-D8453ED3F605}"/>
              </a:ext>
            </a:extLst>
          </p:cNvPr>
          <p:cNvSpPr/>
          <p:nvPr/>
        </p:nvSpPr>
        <p:spPr>
          <a:xfrm>
            <a:off x="2548467" y="3460084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Arrow: Pentagon 92">
            <a:extLst>
              <a:ext uri="{FF2B5EF4-FFF2-40B4-BE49-F238E27FC236}">
                <a16:creationId xmlns:a16="http://schemas.microsoft.com/office/drawing/2014/main" id="{00ADC140-C457-E939-5495-8A16971CDA96}"/>
              </a:ext>
            </a:extLst>
          </p:cNvPr>
          <p:cNvSpPr/>
          <p:nvPr/>
        </p:nvSpPr>
        <p:spPr>
          <a:xfrm>
            <a:off x="2548467" y="4804259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Arrow: Pentagon 94">
            <a:extLst>
              <a:ext uri="{FF2B5EF4-FFF2-40B4-BE49-F238E27FC236}">
                <a16:creationId xmlns:a16="http://schemas.microsoft.com/office/drawing/2014/main" id="{D20161B3-76AA-86F4-599D-365FFC00A41F}"/>
              </a:ext>
            </a:extLst>
          </p:cNvPr>
          <p:cNvSpPr/>
          <p:nvPr/>
        </p:nvSpPr>
        <p:spPr>
          <a:xfrm>
            <a:off x="2548466" y="6108127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Arrow: Pentagon 96">
            <a:extLst>
              <a:ext uri="{FF2B5EF4-FFF2-40B4-BE49-F238E27FC236}">
                <a16:creationId xmlns:a16="http://schemas.microsoft.com/office/drawing/2014/main" id="{2B07E532-1272-A3EE-584A-A29B2E635537}"/>
              </a:ext>
            </a:extLst>
          </p:cNvPr>
          <p:cNvSpPr/>
          <p:nvPr/>
        </p:nvSpPr>
        <p:spPr>
          <a:xfrm>
            <a:off x="5439830" y="931333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Arrow: Pentagon 98">
            <a:extLst>
              <a:ext uri="{FF2B5EF4-FFF2-40B4-BE49-F238E27FC236}">
                <a16:creationId xmlns:a16="http://schemas.microsoft.com/office/drawing/2014/main" id="{4EEADC8C-F684-2E27-C7B3-711CAB2343EA}"/>
              </a:ext>
            </a:extLst>
          </p:cNvPr>
          <p:cNvSpPr/>
          <p:nvPr/>
        </p:nvSpPr>
        <p:spPr>
          <a:xfrm>
            <a:off x="5435600" y="2246842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Arrow: Pentagon 100">
            <a:extLst>
              <a:ext uri="{FF2B5EF4-FFF2-40B4-BE49-F238E27FC236}">
                <a16:creationId xmlns:a16="http://schemas.microsoft.com/office/drawing/2014/main" id="{E179D982-6ECE-62F5-E5AE-F5D10D41D1AA}"/>
              </a:ext>
            </a:extLst>
          </p:cNvPr>
          <p:cNvSpPr/>
          <p:nvPr/>
        </p:nvSpPr>
        <p:spPr>
          <a:xfrm>
            <a:off x="5503332" y="3453829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Arrow: Pentagon 102">
            <a:extLst>
              <a:ext uri="{FF2B5EF4-FFF2-40B4-BE49-F238E27FC236}">
                <a16:creationId xmlns:a16="http://schemas.microsoft.com/office/drawing/2014/main" id="{C712E676-8AC3-A14E-72D7-A4693F24821B}"/>
              </a:ext>
            </a:extLst>
          </p:cNvPr>
          <p:cNvSpPr/>
          <p:nvPr/>
        </p:nvSpPr>
        <p:spPr>
          <a:xfrm>
            <a:off x="5469463" y="4982059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Arrow: Pentagon 104">
            <a:extLst>
              <a:ext uri="{FF2B5EF4-FFF2-40B4-BE49-F238E27FC236}">
                <a16:creationId xmlns:a16="http://schemas.microsoft.com/office/drawing/2014/main" id="{A94B0883-333D-A631-6D65-5B473B3439B9}"/>
              </a:ext>
            </a:extLst>
          </p:cNvPr>
          <p:cNvSpPr/>
          <p:nvPr/>
        </p:nvSpPr>
        <p:spPr>
          <a:xfrm>
            <a:off x="5469462" y="6048855"/>
            <a:ext cx="550337" cy="1778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Arrow: Down 106">
            <a:extLst>
              <a:ext uri="{FF2B5EF4-FFF2-40B4-BE49-F238E27FC236}">
                <a16:creationId xmlns:a16="http://schemas.microsoft.com/office/drawing/2014/main" id="{8829836A-3747-C380-28D7-32019168B307}"/>
              </a:ext>
            </a:extLst>
          </p:cNvPr>
          <p:cNvSpPr/>
          <p:nvPr/>
        </p:nvSpPr>
        <p:spPr>
          <a:xfrm>
            <a:off x="4284139" y="1456268"/>
            <a:ext cx="152394" cy="3894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Arrow: Down 108">
            <a:extLst>
              <a:ext uri="{FF2B5EF4-FFF2-40B4-BE49-F238E27FC236}">
                <a16:creationId xmlns:a16="http://schemas.microsoft.com/office/drawing/2014/main" id="{A3BE9D5F-3937-DE51-B6A2-B4D65551C3B4}"/>
              </a:ext>
            </a:extLst>
          </p:cNvPr>
          <p:cNvSpPr/>
          <p:nvPr/>
        </p:nvSpPr>
        <p:spPr>
          <a:xfrm>
            <a:off x="4305301" y="2683360"/>
            <a:ext cx="143926" cy="3894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Arrow: Down 110">
            <a:extLst>
              <a:ext uri="{FF2B5EF4-FFF2-40B4-BE49-F238E27FC236}">
                <a16:creationId xmlns:a16="http://schemas.microsoft.com/office/drawing/2014/main" id="{23929C0E-A648-D369-F188-9DC0326BE858}"/>
              </a:ext>
            </a:extLst>
          </p:cNvPr>
          <p:cNvSpPr/>
          <p:nvPr/>
        </p:nvSpPr>
        <p:spPr>
          <a:xfrm>
            <a:off x="4279897" y="4069109"/>
            <a:ext cx="156636" cy="3894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EA3BC6BE-DA12-A2AC-E344-DE4CE3B7803A}"/>
              </a:ext>
            </a:extLst>
          </p:cNvPr>
          <p:cNvSpPr/>
          <p:nvPr/>
        </p:nvSpPr>
        <p:spPr>
          <a:xfrm>
            <a:off x="4284126" y="5439464"/>
            <a:ext cx="152407" cy="2915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Arrow: Down 114">
            <a:extLst>
              <a:ext uri="{FF2B5EF4-FFF2-40B4-BE49-F238E27FC236}">
                <a16:creationId xmlns:a16="http://schemas.microsoft.com/office/drawing/2014/main" id="{D00F3703-53DA-7CAA-61FA-052A3CAC12E7}"/>
              </a:ext>
            </a:extLst>
          </p:cNvPr>
          <p:cNvSpPr/>
          <p:nvPr/>
        </p:nvSpPr>
        <p:spPr>
          <a:xfrm>
            <a:off x="1244598" y="1456268"/>
            <a:ext cx="143925" cy="3894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224B8611-455E-D95F-F0E8-CE995E6CB431}"/>
              </a:ext>
            </a:extLst>
          </p:cNvPr>
          <p:cNvSpPr/>
          <p:nvPr/>
        </p:nvSpPr>
        <p:spPr>
          <a:xfrm>
            <a:off x="1236129" y="2683360"/>
            <a:ext cx="152394" cy="3894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Arrow: Down 118">
            <a:extLst>
              <a:ext uri="{FF2B5EF4-FFF2-40B4-BE49-F238E27FC236}">
                <a16:creationId xmlns:a16="http://schemas.microsoft.com/office/drawing/2014/main" id="{3BDB505C-FB0C-FFF4-05E0-53BF0551E5DE}"/>
              </a:ext>
            </a:extLst>
          </p:cNvPr>
          <p:cNvSpPr/>
          <p:nvPr/>
        </p:nvSpPr>
        <p:spPr>
          <a:xfrm>
            <a:off x="1253063" y="4043708"/>
            <a:ext cx="152394" cy="3894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Arrow: Down 120">
            <a:extLst>
              <a:ext uri="{FF2B5EF4-FFF2-40B4-BE49-F238E27FC236}">
                <a16:creationId xmlns:a16="http://schemas.microsoft.com/office/drawing/2014/main" id="{2CE5B9DC-5D9B-D56C-D314-6CD2E905548E}"/>
              </a:ext>
            </a:extLst>
          </p:cNvPr>
          <p:cNvSpPr/>
          <p:nvPr/>
        </p:nvSpPr>
        <p:spPr>
          <a:xfrm>
            <a:off x="1236129" y="5341515"/>
            <a:ext cx="152394" cy="3894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Arrow: Down 122">
            <a:extLst>
              <a:ext uri="{FF2B5EF4-FFF2-40B4-BE49-F238E27FC236}">
                <a16:creationId xmlns:a16="http://schemas.microsoft.com/office/drawing/2014/main" id="{F57DB4E7-5F21-C5E6-7D21-72289F0E83F3}"/>
              </a:ext>
            </a:extLst>
          </p:cNvPr>
          <p:cNvSpPr/>
          <p:nvPr/>
        </p:nvSpPr>
        <p:spPr>
          <a:xfrm>
            <a:off x="7082380" y="1487980"/>
            <a:ext cx="143925" cy="3610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Arrow: Down 124">
            <a:extLst>
              <a:ext uri="{FF2B5EF4-FFF2-40B4-BE49-F238E27FC236}">
                <a16:creationId xmlns:a16="http://schemas.microsoft.com/office/drawing/2014/main" id="{5C64CBE0-28EB-FA99-B5EB-9DF6FC9BB689}"/>
              </a:ext>
            </a:extLst>
          </p:cNvPr>
          <p:cNvSpPr/>
          <p:nvPr/>
        </p:nvSpPr>
        <p:spPr>
          <a:xfrm>
            <a:off x="7082380" y="2674150"/>
            <a:ext cx="143925" cy="3610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Arrow: Down 126">
            <a:extLst>
              <a:ext uri="{FF2B5EF4-FFF2-40B4-BE49-F238E27FC236}">
                <a16:creationId xmlns:a16="http://schemas.microsoft.com/office/drawing/2014/main" id="{B1B71372-6F68-EBBF-EDE6-C0BB274A27C8}"/>
              </a:ext>
            </a:extLst>
          </p:cNvPr>
          <p:cNvSpPr/>
          <p:nvPr/>
        </p:nvSpPr>
        <p:spPr>
          <a:xfrm>
            <a:off x="7112005" y="4097517"/>
            <a:ext cx="143925" cy="3610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Arrow: Down 128">
            <a:extLst>
              <a:ext uri="{FF2B5EF4-FFF2-40B4-BE49-F238E27FC236}">
                <a16:creationId xmlns:a16="http://schemas.microsoft.com/office/drawing/2014/main" id="{702AB9C6-AA22-DE7A-0886-B4279147416C}"/>
              </a:ext>
            </a:extLst>
          </p:cNvPr>
          <p:cNvSpPr/>
          <p:nvPr/>
        </p:nvSpPr>
        <p:spPr>
          <a:xfrm>
            <a:off x="7150108" y="5462031"/>
            <a:ext cx="152394" cy="3141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C4BDF7E-1E79-3DCB-1601-7ED54B5EEBBB}"/>
              </a:ext>
            </a:extLst>
          </p:cNvPr>
          <p:cNvSpPr txBox="1"/>
          <p:nvPr/>
        </p:nvSpPr>
        <p:spPr>
          <a:xfrm>
            <a:off x="287141" y="8536"/>
            <a:ext cx="2261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CONTROL TOWER</a:t>
            </a:r>
            <a:b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 MODULES</a:t>
            </a:r>
            <a:endParaRPr lang="en-IN" sz="20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36178E7-A798-37F2-CEF3-9600A2EC57EE}"/>
              </a:ext>
            </a:extLst>
          </p:cNvPr>
          <p:cNvSpPr txBox="1"/>
          <p:nvPr/>
        </p:nvSpPr>
        <p:spPr>
          <a:xfrm>
            <a:off x="3551762" y="152460"/>
            <a:ext cx="1794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DEFINITION</a:t>
            </a:r>
            <a:endParaRPr lang="en-IN" sz="20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7E31E4B-8193-DC1D-3932-1D969B2800CC}"/>
              </a:ext>
            </a:extLst>
          </p:cNvPr>
          <p:cNvSpPr txBox="1"/>
          <p:nvPr/>
        </p:nvSpPr>
        <p:spPr>
          <a:xfrm>
            <a:off x="5884333" y="23741"/>
            <a:ext cx="26500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INCORPORATION TO RPSs’ ENVIRONMENT</a:t>
            </a:r>
            <a:endParaRPr lang="en-IN" sz="20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9B400EFF-EB2C-0DA8-ADF8-5F08BA09ECA5}"/>
              </a:ext>
            </a:extLst>
          </p:cNvPr>
          <p:cNvCxnSpPr>
            <a:cxnSpLocks/>
          </p:cNvCxnSpPr>
          <p:nvPr/>
        </p:nvCxnSpPr>
        <p:spPr>
          <a:xfrm>
            <a:off x="8077200" y="969431"/>
            <a:ext cx="888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03A3AFE-BAD7-0A9A-E605-FE0441FB64E6}"/>
              </a:ext>
            </a:extLst>
          </p:cNvPr>
          <p:cNvCxnSpPr>
            <a:cxnSpLocks/>
          </p:cNvCxnSpPr>
          <p:nvPr/>
        </p:nvCxnSpPr>
        <p:spPr>
          <a:xfrm>
            <a:off x="8974666" y="954620"/>
            <a:ext cx="0" cy="54863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FB23F6E-5DF1-B89A-7C9D-D8A142403DDC}"/>
              </a:ext>
            </a:extLst>
          </p:cNvPr>
          <p:cNvCxnSpPr>
            <a:cxnSpLocks/>
          </p:cNvCxnSpPr>
          <p:nvPr/>
        </p:nvCxnSpPr>
        <p:spPr>
          <a:xfrm>
            <a:off x="8356606" y="6421967"/>
            <a:ext cx="6265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6F5551CE-56FB-B131-63CA-114A53AACA88}"/>
              </a:ext>
            </a:extLst>
          </p:cNvPr>
          <p:cNvCxnSpPr>
            <a:cxnSpLocks/>
          </p:cNvCxnSpPr>
          <p:nvPr/>
        </p:nvCxnSpPr>
        <p:spPr>
          <a:xfrm>
            <a:off x="8128001" y="2221926"/>
            <a:ext cx="8551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0E6B7CA0-45E5-DB0D-E3C3-021B47FDCC29}"/>
              </a:ext>
            </a:extLst>
          </p:cNvPr>
          <p:cNvCxnSpPr>
            <a:cxnSpLocks/>
          </p:cNvCxnSpPr>
          <p:nvPr/>
        </p:nvCxnSpPr>
        <p:spPr>
          <a:xfrm>
            <a:off x="8128001" y="3487117"/>
            <a:ext cx="8551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4AFE429-1EB1-B0A3-57E4-AD1DF04737EB}"/>
              </a:ext>
            </a:extLst>
          </p:cNvPr>
          <p:cNvCxnSpPr>
            <a:cxnSpLocks/>
          </p:cNvCxnSpPr>
          <p:nvPr/>
        </p:nvCxnSpPr>
        <p:spPr>
          <a:xfrm>
            <a:off x="8119534" y="4985718"/>
            <a:ext cx="8551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Arrow: Right 151">
            <a:extLst>
              <a:ext uri="{FF2B5EF4-FFF2-40B4-BE49-F238E27FC236}">
                <a16:creationId xmlns:a16="http://schemas.microsoft.com/office/drawing/2014/main" id="{0ACB486D-4DA1-A855-1761-822B92C798DD}"/>
              </a:ext>
            </a:extLst>
          </p:cNvPr>
          <p:cNvSpPr/>
          <p:nvPr/>
        </p:nvSpPr>
        <p:spPr>
          <a:xfrm>
            <a:off x="8991600" y="3453829"/>
            <a:ext cx="770463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5B1E698-94F9-573A-C5A8-4ABE68FAEB04}"/>
              </a:ext>
            </a:extLst>
          </p:cNvPr>
          <p:cNvSpPr/>
          <p:nvPr/>
        </p:nvSpPr>
        <p:spPr>
          <a:xfrm>
            <a:off x="9770531" y="1845734"/>
            <a:ext cx="2247906" cy="361629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IN" sz="1600" b="1" dirty="0">
                <a:solidFill>
                  <a:schemeClr val="tx1"/>
                </a:solidFill>
              </a:rPr>
            </a:br>
            <a:br>
              <a:rPr lang="en-IN" sz="1600" b="1" dirty="0">
                <a:solidFill>
                  <a:schemeClr val="tx1"/>
                </a:solidFill>
              </a:rPr>
            </a:br>
            <a:r>
              <a:rPr lang="en-IN" sz="1600" b="1" dirty="0">
                <a:solidFill>
                  <a:schemeClr val="tx1"/>
                </a:solidFill>
              </a:rPr>
              <a:t>Enables real-time monitoring of supply chain efficiency, procurement performance, inventory health, and manufacturing utilization</a:t>
            </a:r>
            <a:r>
              <a:rPr lang="en-IN" dirty="0"/>
              <a:t>.</a:t>
            </a:r>
          </a:p>
          <a:p>
            <a:pPr algn="ctr"/>
            <a:endParaRPr lang="en-IN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6CD0C26-8BE1-5CFC-A011-E4AC28A615D1}"/>
              </a:ext>
            </a:extLst>
          </p:cNvPr>
          <p:cNvSpPr txBox="1"/>
          <p:nvPr/>
        </p:nvSpPr>
        <p:spPr>
          <a:xfrm>
            <a:off x="9906010" y="1905000"/>
            <a:ext cx="2065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lnSpc>
                <a:spcPct val="100000"/>
              </a:lnSpc>
              <a:buNone/>
            </a:pPr>
            <a:r>
              <a:rPr lang="en-IN" sz="1800" b="1" i="0" dirty="0">
                <a:effectLst/>
                <a:latin typeface="+mn-lt"/>
              </a:rPr>
              <a:t>EXECUTIVE DASHBOARD</a:t>
            </a:r>
            <a:endParaRPr lang="en-IN" sz="18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8007A94-5B52-0FAB-656F-78CCED677127}"/>
              </a:ext>
            </a:extLst>
          </p:cNvPr>
          <p:cNvSpPr txBox="1"/>
          <p:nvPr/>
        </p:nvSpPr>
        <p:spPr>
          <a:xfrm>
            <a:off x="9152467" y="4069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69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9236DF-ABEC-F196-A7E7-3FE8FC9F344A}"/>
              </a:ext>
            </a:extLst>
          </p:cNvPr>
          <p:cNvSpPr txBox="1"/>
          <p:nvPr/>
        </p:nvSpPr>
        <p:spPr>
          <a:xfrm>
            <a:off x="0" y="8462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METHEDOLOGY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0056C-D0CA-94E2-716D-484D3A4A15D2}"/>
              </a:ext>
            </a:extLst>
          </p:cNvPr>
          <p:cNvSpPr txBox="1"/>
          <p:nvPr/>
        </p:nvSpPr>
        <p:spPr>
          <a:xfrm>
            <a:off x="59267" y="558800"/>
            <a:ext cx="12065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sz="1600" dirty="0"/>
              <a:t>The framework combines </a:t>
            </a:r>
            <a:r>
              <a:rPr lang="en-IN" sz="1600" b="1" dirty="0"/>
              <a:t>inventory optimization, supplier analytics, procurement monitoring, and production planning </a:t>
            </a:r>
            <a:r>
              <a:rPr lang="en-IN" sz="1600" dirty="0"/>
              <a:t>to transform fragmented operational data into actionable insights. </a:t>
            </a:r>
            <a:br>
              <a:rPr lang="en-IN" sz="1600" dirty="0"/>
            </a:br>
            <a:r>
              <a:rPr lang="en-IN" sz="1600" dirty="0"/>
              <a:t>Using </a:t>
            </a:r>
            <a:r>
              <a:rPr lang="en-IN" sz="1600" b="1" dirty="0"/>
              <a:t>EOQ analysis, safety stock calculations, supplier performance evaluation, and capacity planning </a:t>
            </a:r>
            <a:r>
              <a:rPr lang="en-IN" sz="1600" dirty="0"/>
              <a:t>the system supports operational and strategic decision-making.</a:t>
            </a:r>
            <a:br>
              <a:rPr lang="en-IN" sz="1600" dirty="0"/>
            </a:br>
            <a:r>
              <a:rPr lang="en-IN" sz="1600" dirty="0"/>
              <a:t> The results are consolidated into a centralized </a:t>
            </a:r>
            <a:r>
              <a:rPr lang="en-IN" sz="1600" b="1" dirty="0"/>
              <a:t>Executive Dashboard </a:t>
            </a:r>
            <a:r>
              <a:rPr lang="en-IN" sz="1600" dirty="0"/>
              <a:t>that enables real-time monitoring of inventory health, procurement efficiency, supplier reliability, and production performance.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2E7D7-901E-AA3B-2F03-AED40CC32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0" y="2253059"/>
            <a:ext cx="6675120" cy="418798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7CB410-C801-D29B-F79B-B34063E870F8}"/>
              </a:ext>
            </a:extLst>
          </p:cNvPr>
          <p:cNvCxnSpPr>
            <a:cxnSpLocks/>
          </p:cNvCxnSpPr>
          <p:nvPr/>
        </p:nvCxnSpPr>
        <p:spPr>
          <a:xfrm>
            <a:off x="1608667" y="3903135"/>
            <a:ext cx="795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855717F-3FAF-9380-BD31-32B7DB2A151B}"/>
              </a:ext>
            </a:extLst>
          </p:cNvPr>
          <p:cNvSpPr/>
          <p:nvPr/>
        </p:nvSpPr>
        <p:spPr>
          <a:xfrm>
            <a:off x="474135" y="3903135"/>
            <a:ext cx="1532466" cy="464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INVENTORY TABLE</a:t>
            </a:r>
            <a:endParaRPr lang="en-IN" sz="10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3B780E-472C-3974-CF77-2F244FD62F1C}"/>
              </a:ext>
            </a:extLst>
          </p:cNvPr>
          <p:cNvCxnSpPr>
            <a:cxnSpLocks/>
          </p:cNvCxnSpPr>
          <p:nvPr/>
        </p:nvCxnSpPr>
        <p:spPr>
          <a:xfrm>
            <a:off x="1989666" y="2405459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5949932-3AC0-E9FC-2105-9BB80571DB1D}"/>
              </a:ext>
            </a:extLst>
          </p:cNvPr>
          <p:cNvSpPr/>
          <p:nvPr/>
        </p:nvSpPr>
        <p:spPr>
          <a:xfrm>
            <a:off x="664635" y="2405458"/>
            <a:ext cx="1532466" cy="464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KPI CARDS</a:t>
            </a:r>
            <a:endParaRPr lang="en-IN" sz="10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F21CB5-5D30-0805-BB34-0F1EDA88C87A}"/>
              </a:ext>
            </a:extLst>
          </p:cNvPr>
          <p:cNvSpPr/>
          <p:nvPr/>
        </p:nvSpPr>
        <p:spPr>
          <a:xfrm>
            <a:off x="9545321" y="3090331"/>
            <a:ext cx="1532466" cy="464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EOQ CHART</a:t>
            </a:r>
            <a:endParaRPr lang="en-IN" sz="10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92667C-2B56-80FA-6CD0-F6753A3D5C03}"/>
              </a:ext>
            </a:extLst>
          </p:cNvPr>
          <p:cNvCxnSpPr/>
          <p:nvPr/>
        </p:nvCxnSpPr>
        <p:spPr>
          <a:xfrm flipH="1">
            <a:off x="8593667" y="3090333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482D19-D2C5-4D56-395C-F184FA58C7B6}"/>
              </a:ext>
            </a:extLst>
          </p:cNvPr>
          <p:cNvCxnSpPr/>
          <p:nvPr/>
        </p:nvCxnSpPr>
        <p:spPr>
          <a:xfrm flipH="1">
            <a:off x="8593667" y="5003800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FC7A845-035B-2D44-D94C-09B65C3B45BB}"/>
              </a:ext>
            </a:extLst>
          </p:cNvPr>
          <p:cNvSpPr/>
          <p:nvPr/>
        </p:nvSpPr>
        <p:spPr>
          <a:xfrm>
            <a:off x="9545321" y="5003797"/>
            <a:ext cx="1532466" cy="464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SAFETY STOCK CHART</a:t>
            </a:r>
            <a:endParaRPr lang="en-IN" sz="1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BF4237-B0FC-0527-86C8-230ACFF0F2FE}"/>
              </a:ext>
            </a:extLst>
          </p:cNvPr>
          <p:cNvSpPr txBox="1"/>
          <p:nvPr/>
        </p:nvSpPr>
        <p:spPr>
          <a:xfrm>
            <a:off x="3649134" y="6441045"/>
            <a:ext cx="4732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SAMPLE of Executive Optimization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17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376D15-7140-518D-D614-395299C8153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b="1" dirty="0"/>
              <a:t>                                                                           RESULTS: Reflection on Design 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F372C9-4527-2308-30E2-6E98AF594819}"/>
              </a:ext>
            </a:extLst>
          </p:cNvPr>
          <p:cNvSpPr/>
          <p:nvPr/>
        </p:nvSpPr>
        <p:spPr>
          <a:xfrm>
            <a:off x="211667" y="584200"/>
            <a:ext cx="11836400" cy="3445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n-IN" b="1" dirty="0">
                <a:highlight>
                  <a:srgbClr val="00FF00"/>
                </a:highlight>
              </a:rPr>
              <a:t>✓</a:t>
            </a:r>
            <a:r>
              <a:rPr lang="en-IN" b="1" dirty="0"/>
              <a:t> Reduced inventory carrying-cost exposure through optimized EOQ and safety-stock policies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1" dirty="0"/>
              <a:t> 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1" dirty="0">
                <a:highlight>
                  <a:srgbClr val="00FF00"/>
                </a:highlight>
              </a:rPr>
              <a:t>✓</a:t>
            </a:r>
            <a:r>
              <a:rPr lang="en-IN" b="1" dirty="0"/>
              <a:t> Improved supplier-performance visibility, helping minimize production disruptions and associated revenue losses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1" dirty="0"/>
              <a:t> 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1" dirty="0">
                <a:highlight>
                  <a:srgbClr val="00FF00"/>
                </a:highlight>
              </a:rPr>
              <a:t>✓</a:t>
            </a:r>
            <a:r>
              <a:rPr lang="en-IN" b="1" dirty="0"/>
              <a:t> Enabled procurement-spend monitoring and sourcing optimization opportunities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1" dirty="0"/>
              <a:t> 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1" dirty="0">
                <a:highlight>
                  <a:srgbClr val="00FF00"/>
                </a:highlight>
              </a:rPr>
              <a:t>✓</a:t>
            </a:r>
            <a:r>
              <a:rPr lang="en-IN" b="1" dirty="0"/>
              <a:t> Improved alignment between material availability and production schedules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1" dirty="0"/>
              <a:t> 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1" dirty="0">
                <a:highlight>
                  <a:srgbClr val="00FF00"/>
                </a:highlight>
              </a:rPr>
              <a:t>✓</a:t>
            </a:r>
            <a:r>
              <a:rPr lang="en-IN" b="1" dirty="0"/>
              <a:t> Created a decision-support framework capable of improving profitability through better operational and supply-chain decisions</a:t>
            </a:r>
          </a:p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84E2F-5BDB-C044-2A6B-C5AC6FE87BDB}"/>
              </a:ext>
            </a:extLst>
          </p:cNvPr>
          <p:cNvSpPr txBox="1"/>
          <p:nvPr/>
        </p:nvSpPr>
        <p:spPr>
          <a:xfrm>
            <a:off x="0" y="4318000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b="1" dirty="0"/>
              <a:t>                                                                                               DISCUSSIONS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40648-32D4-6AA9-62A2-021E598AF335}"/>
              </a:ext>
            </a:extLst>
          </p:cNvPr>
          <p:cNvSpPr/>
          <p:nvPr/>
        </p:nvSpPr>
        <p:spPr>
          <a:xfrm>
            <a:off x="211667" y="4851401"/>
            <a:ext cx="11836400" cy="1490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r>
              <a:rPr lang="en-IN" b="1" dirty="0"/>
              <a:t> </a:t>
            </a:r>
            <a:br>
              <a:rPr lang="en-IN" b="1" dirty="0"/>
            </a:br>
            <a:r>
              <a:rPr lang="en-IN" dirty="0"/>
              <a:t>The project demonstrates how manufacturing organizations can use integrated operational data to support inventory, procurement, supplier, and production decisions. Rather than optimizing individual functions independently, the framework adopts a systems approach where operational improvements across the value chain contribute to improved efficiency, reduced costs, and stronger business performance.</a:t>
            </a:r>
          </a:p>
          <a:p>
            <a:pPr fontAlgn="t">
              <a:lnSpc>
                <a:spcPct val="100000"/>
              </a:lnSpc>
              <a:buNone/>
            </a:pPr>
            <a:endParaRPr lang="en-IN" b="1" dirty="0"/>
          </a:p>
          <a:p>
            <a:pPr fontAlgn="t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65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B0EF16-6206-8636-49F2-88071784FB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" r="1"/>
          <a:stretch>
            <a:fillRect/>
          </a:stretch>
        </p:blipFill>
        <p:spPr>
          <a:xfrm>
            <a:off x="8470" y="0"/>
            <a:ext cx="6079062" cy="34176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D0BADB-3701-F99C-9928-D94F33209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466" y="0"/>
            <a:ext cx="6089858" cy="3417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A130B4-AEDE-4EE6-B060-73AD7927C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" y="3417600"/>
            <a:ext cx="6079062" cy="3428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D9D66A-451D-8A3D-6A77-956805D92D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299"/>
          <a:stretch>
            <a:fillRect/>
          </a:stretch>
        </p:blipFill>
        <p:spPr>
          <a:xfrm>
            <a:off x="6096000" y="3440401"/>
            <a:ext cx="6132192" cy="3417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114479-9452-EC30-3919-205792A92241}"/>
              </a:ext>
            </a:extLst>
          </p:cNvPr>
          <p:cNvSpPr txBox="1"/>
          <p:nvPr/>
        </p:nvSpPr>
        <p:spPr>
          <a:xfrm>
            <a:off x="5770968" y="3048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097A16-1333-DDF4-CFC4-9A6991982DA8}"/>
              </a:ext>
            </a:extLst>
          </p:cNvPr>
          <p:cNvSpPr txBox="1"/>
          <p:nvPr/>
        </p:nvSpPr>
        <p:spPr>
          <a:xfrm>
            <a:off x="11386019" y="29805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431D2E-BD9E-E9A3-800D-2A2981801510}"/>
              </a:ext>
            </a:extLst>
          </p:cNvPr>
          <p:cNvSpPr txBox="1"/>
          <p:nvPr/>
        </p:nvSpPr>
        <p:spPr>
          <a:xfrm>
            <a:off x="5770968" y="64658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90DEA6-3A1C-253B-4AC2-FB2C9015AF5A}"/>
              </a:ext>
            </a:extLst>
          </p:cNvPr>
          <p:cNvSpPr txBox="1"/>
          <p:nvPr/>
        </p:nvSpPr>
        <p:spPr>
          <a:xfrm>
            <a:off x="11850035" y="65208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0370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9e8e454-ead6-40c6-bc93-5b83567d5e1a}" enabled="0" method="" siteId="{c9e8e454-ead6-40c6-bc93-5b83567d5e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562</Words>
  <Application>Microsoft Office PowerPoint</Application>
  <PresentationFormat>Widescreen</PresentationFormat>
  <Paragraphs>71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Abadi</vt:lpstr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Kanamaluri, Tushar [C]</dc:creator>
  <cp:lastModifiedBy>Kanamaluri, Tushar [C]</cp:lastModifiedBy>
  <cp:revision>1</cp:revision>
  <cp:lastPrinted>2026-09-30T17:47:43Z</cp:lastPrinted>
  <dcterms:created xsi:type="dcterms:W3CDTF">2026-09-30T11:50:37Z</dcterms:created>
  <dcterms:modified xsi:type="dcterms:W3CDTF">2026-09-30T17:52:18Z</dcterms:modified>
</cp:coreProperties>
</file>